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</p:sldIdLst>
  <p:sldSz cx="1219212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logo_cce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571702" y="666000"/>
            <a:ext cx="1056298" cy="396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576000" y="1152000"/>
            <a:ext cx="11052000" cy="864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>
                <a:solidFill>
                  <a:srgbClr val="193C8E"/>
                </a:solidFill>
                <a:latin typeface="Montserrat"/>
              </a:rPr>
              <a:t>EXEMPLO FICTÍCIO: Entrada guiada nas solicitações de dados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76000" y="2016000"/>
            <a:ext cx="11052000" cy="3887999"/>
          </a:xfrm>
          <a:prstGeom prst="roundRect">
            <a:avLst/>
          </a:prstGeom>
          <a:solidFill>
            <a:srgbClr val="E8EEFB"/>
          </a:solidFill>
          <a:ln>
            <a:solidFill>
              <a:srgbClr val="D2D9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82880" tIns="182880" wrap="square"/>
          <a:lstStyle/>
          <a:p>
            <a:pPr algn="ctr">
              <a:defRPr sz="1700">
                <a:solidFill>
                  <a:srgbClr val="30343B"/>
                </a:solidFill>
                <a:latin typeface="Montserrat"/>
              </a:defRPr>
            </a:pPr>
            <a:r>
              <a:t>Amostra de validação visual e estrutural. Dados, pessoas, votos e resultados são fictícios.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76000" y="5904000"/>
            <a:ext cx="11052000" cy="359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>
                <a:solidFill>
                  <a:srgbClr val="586EA4"/>
                </a:solidFill>
                <a:latin typeface="Montserrat"/>
              </a:defRPr>
            </a:pPr>
            <a:r>
              <a:t>ID sample-executive-presentation · versão 1.0.0 · Completo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76000" y="576000"/>
            <a:ext cx="9540000" cy="576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00">
                <a:solidFill>
                  <a:srgbClr val="4C73D1"/>
                </a:solidFill>
                <a:latin typeface="Montserrat"/>
              </a:rPr>
              <a:t>APRESENTAÇÃO EXECUTIVA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logo_cce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571702" y="666000"/>
            <a:ext cx="1056298" cy="396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576000" y="1152000"/>
            <a:ext cx="11052000" cy="864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>
                <a:solidFill>
                  <a:srgbClr val="193C8E"/>
                </a:solidFill>
                <a:latin typeface="Montserrat"/>
              </a:rPr>
              <a:t>A jornada fictícia delimita o problema e a hipótese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76000" y="2016000"/>
            <a:ext cx="11052000" cy="3887999"/>
          </a:xfrm>
          <a:prstGeom prst="roundRect">
            <a:avLst/>
          </a:prstGeom>
          <a:solidFill>
            <a:srgbClr val="E8EEFB"/>
          </a:solidFill>
          <a:ln>
            <a:solidFill>
              <a:srgbClr val="D2D9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82880" tIns="182880" wrap="square"/>
          <a:lstStyle/>
          <a:p>
            <a:pPr algn="ctr">
              <a:defRPr sz="1700">
                <a:solidFill>
                  <a:srgbClr val="30343B"/>
                </a:solidFill>
                <a:latin typeface="Montserrat"/>
              </a:defRPr>
            </a:pPr>
            <a:r>
              <a:t>Exemplo fictício de jornada de solicitações de dados. Hipótese, usuários e escopo são demonstrativos. [FIC-01]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76000" y="5904000"/>
            <a:ext cx="11052000" cy="359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>
                <a:solidFill>
                  <a:srgbClr val="586EA4"/>
                </a:solidFill>
                <a:latin typeface="Montserrat"/>
              </a:defRPr>
            </a:pPr>
            <a:r>
              <a:t>ID sample-executive-presentation · versão 1.0.0 · Completo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76000" y="576000"/>
            <a:ext cx="9540000" cy="576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00">
                <a:solidFill>
                  <a:srgbClr val="4C73D1"/>
                </a:solidFill>
                <a:latin typeface="Montserrat"/>
              </a:rPr>
              <a:t>APRESENTAÇÃO EXECUTIVA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logo_cce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571702" y="666000"/>
            <a:ext cx="1056298" cy="396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576000" y="1152000"/>
            <a:ext cx="11052000" cy="864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>
                <a:solidFill>
                  <a:srgbClr val="193C8E"/>
                </a:solidFill>
                <a:latin typeface="Montserrat"/>
              </a:rPr>
              <a:t>O método combina compreensão da tarefa e piloto controlado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76000" y="2016000"/>
            <a:ext cx="11052000" cy="3887999"/>
          </a:xfrm>
          <a:prstGeom prst="roundRect">
            <a:avLst/>
          </a:prstGeom>
          <a:solidFill>
            <a:srgbClr val="E8EEFB"/>
          </a:solidFill>
          <a:ln>
            <a:solidFill>
              <a:srgbClr val="D2D9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82880" tIns="182880" wrap="square"/>
          <a:lstStyle/>
          <a:p>
            <a:pPr algn="ctr">
              <a:defRPr sz="1700">
                <a:solidFill>
                  <a:srgbClr val="30343B"/>
                </a:solidFill>
                <a:latin typeface="Montserrat"/>
              </a:defRPr>
            </a:pPr>
            <a:r>
              <a:t>Teste moderado de tarefa para compreensão, seguido de piloto controlado para observar completude e tempo. Nenhuma coleta ocorreu neste exemplo. [FIC-01]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76000" y="5904000"/>
            <a:ext cx="11052000" cy="359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>
                <a:solidFill>
                  <a:srgbClr val="586EA4"/>
                </a:solidFill>
                <a:latin typeface="Montserrat"/>
              </a:defRPr>
            </a:pPr>
            <a:r>
              <a:t>ID sample-executive-presentation · versão 1.0.0 · Completo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76000" y="576000"/>
            <a:ext cx="9540000" cy="576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00">
                <a:solidFill>
                  <a:srgbClr val="4C73D1"/>
                </a:solidFill>
                <a:latin typeface="Montserrat"/>
              </a:rPr>
              <a:t>APRESENTAÇÃO EXECUTIVA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logo_cce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571702" y="666000"/>
            <a:ext cx="1056298" cy="396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576000" y="1152000"/>
            <a:ext cx="11052000" cy="864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>
                <a:solidFill>
                  <a:srgbClr val="193C8E"/>
                </a:solidFill>
                <a:latin typeface="Montserrat"/>
              </a:rPr>
              <a:t>A orientação reduziu dúvidas, mas o efeito real não foi medido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76000" y="2016000"/>
            <a:ext cx="11052000" cy="3887999"/>
          </a:xfrm>
          <a:prstGeom prst="roundRect">
            <a:avLst/>
          </a:prstGeom>
          <a:solidFill>
            <a:srgbClr val="E8EEFB"/>
          </a:solidFill>
          <a:ln>
            <a:solidFill>
              <a:srgbClr val="D2D9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82880" tIns="182880" wrap="square"/>
          <a:lstStyle/>
          <a:p>
            <a:pPr algn="ctr">
              <a:defRPr sz="1700">
                <a:solidFill>
                  <a:srgbClr val="30343B"/>
                </a:solidFill>
                <a:latin typeface="Montserrat"/>
              </a:defRPr>
            </a:pPr>
            <a:r>
              <a:t>Achado ilustrativo: a orientação reduziu dúvidas no protótipo, mas não existe evidência real de efeito operacional. [FIC-01]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76000" y="5904000"/>
            <a:ext cx="11052000" cy="359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>
                <a:solidFill>
                  <a:srgbClr val="586EA4"/>
                </a:solidFill>
                <a:latin typeface="Montserrat"/>
              </a:defRPr>
            </a:pPr>
            <a:r>
              <a:t>ID sample-executive-presentation · versão 1.0.0 · Completo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76000" y="576000"/>
            <a:ext cx="9540000" cy="576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00">
                <a:solidFill>
                  <a:srgbClr val="4C73D1"/>
                </a:solidFill>
                <a:latin typeface="Montserrat"/>
              </a:rPr>
              <a:t>APRESENTAÇÃO EXECUTIVA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logo_cce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571702" y="666000"/>
            <a:ext cx="1056298" cy="396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576000" y="1152000"/>
            <a:ext cx="11052000" cy="864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>
                <a:solidFill>
                  <a:srgbClr val="193C8E"/>
                </a:solidFill>
                <a:latin typeface="Montserrat"/>
              </a:rPr>
              <a:t>Investigar causas e volumes antes de comprometer a construção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76000" y="2016000"/>
            <a:ext cx="11052000" cy="3887999"/>
          </a:xfrm>
          <a:prstGeom prst="roundRect">
            <a:avLst/>
          </a:prstGeom>
          <a:solidFill>
            <a:srgbClr val="E8EEFB"/>
          </a:solidFill>
          <a:ln>
            <a:solidFill>
              <a:srgbClr val="D2D9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82880" tIns="182880" wrap="square"/>
          <a:lstStyle/>
          <a:p>
            <a:pPr algn="ctr">
              <a:defRPr sz="1700">
                <a:solidFill>
                  <a:srgbClr val="30343B"/>
                </a:solidFill>
                <a:latin typeface="Montserrat"/>
              </a:defRPr>
            </a:pPr>
            <a:r>
              <a:t>Investigar volumes e causas antes de comprometer construção. Nenhuma decisão real foi tomada neste exemplo. [FIC-01]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76000" y="5904000"/>
            <a:ext cx="11052000" cy="359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>
                <a:solidFill>
                  <a:srgbClr val="586EA4"/>
                </a:solidFill>
                <a:latin typeface="Montserrat"/>
              </a:defRPr>
            </a:pPr>
            <a:r>
              <a:t>ID sample-executive-presentation · versão 1.0.0 · Completo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76000" y="576000"/>
            <a:ext cx="9540000" cy="576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00">
                <a:solidFill>
                  <a:srgbClr val="4C73D1"/>
                </a:solidFill>
                <a:latin typeface="Montserrat"/>
              </a:rPr>
              <a:t>APRESENTAÇÃO EXECUTIVA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logo_cce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571702" y="666000"/>
            <a:ext cx="1056298" cy="396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576000" y="1152000"/>
            <a:ext cx="11052000" cy="864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>
                <a:solidFill>
                  <a:srgbClr val="193C8E"/>
                </a:solidFill>
                <a:latin typeface="Montserrat"/>
              </a:rPr>
              <a:t>Uma rodada real deve preceder a decisão de escala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76000" y="2016000"/>
            <a:ext cx="11052000" cy="3887999"/>
          </a:xfrm>
          <a:prstGeom prst="roundRect">
            <a:avLst/>
          </a:prstGeom>
          <a:solidFill>
            <a:srgbClr val="E8EEFB"/>
          </a:solidFill>
          <a:ln>
            <a:solidFill>
              <a:srgbClr val="D2D9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82880" tIns="182880" wrap="square"/>
          <a:lstStyle/>
          <a:p>
            <a:pPr algn="ctr">
              <a:defRPr sz="1700">
                <a:solidFill>
                  <a:srgbClr val="30343B"/>
                </a:solidFill>
                <a:latin typeface="Montserrat"/>
              </a:defRPr>
            </a:pPr>
            <a:r>
              <a:t>Consolidar linha de base, fechar Test Cards e executar uma rodada real antes de decidir escala. [FIC-01]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76000" y="5904000"/>
            <a:ext cx="11052000" cy="359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>
                <a:solidFill>
                  <a:srgbClr val="586EA4"/>
                </a:solidFill>
                <a:latin typeface="Montserrat"/>
              </a:defRPr>
            </a:pPr>
            <a:r>
              <a:t>ID sample-executive-presentation · versão 1.0.0 · Completo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76000" y="576000"/>
            <a:ext cx="9540000" cy="576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00">
                <a:solidFill>
                  <a:srgbClr val="4C73D1"/>
                </a:solidFill>
                <a:latin typeface="Montserrat"/>
              </a:rPr>
              <a:t>APRESENTAÇÃO EXECUTIVA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logo_cce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571702" y="666000"/>
            <a:ext cx="1056298" cy="396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576000" y="1152000"/>
            <a:ext cx="11052000" cy="864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>
                <a:solidFill>
                  <a:srgbClr val="193C8E"/>
                </a:solidFill>
                <a:latin typeface="Montserrat"/>
              </a:rPr>
              <a:t>Fontes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76000" y="2016000"/>
            <a:ext cx="11052000" cy="3887999"/>
          </a:xfrm>
          <a:prstGeom prst="roundRect">
            <a:avLst/>
          </a:prstGeom>
          <a:solidFill>
            <a:srgbClr val="E8EEFB"/>
          </a:solidFill>
          <a:ln>
            <a:solidFill>
              <a:srgbClr val="D2D9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82880" tIns="182880" wrap="square"/>
          <a:lstStyle/>
          <a:p>
            <a:pPr algn="ctr">
              <a:defRPr sz="1700">
                <a:solidFill>
                  <a:srgbClr val="30343B"/>
                </a:solidFill>
                <a:latin typeface="Montserrat"/>
              </a:defRPr>
            </a:pPr>
            <a:r>
              <a:t>FIC-01: ata-simulada-5c, exemplo fictício, sem coleta real</a:t>
            </a:r>
          </a:p>
          <a:p>
            <a:pPr>
              <a:defRPr sz="1700">
                <a:solidFill>
                  <a:srgbClr val="30343B"/>
                </a:solidFill>
                <a:latin typeface="Montserrat"/>
              </a:defRPr>
            </a:pPr>
            <a:r>
              <a:t>FIC-02: planilha-simulada, exemplo fictício, sem dados reais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76000" y="5904000"/>
            <a:ext cx="11052000" cy="359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>
                <a:solidFill>
                  <a:srgbClr val="586EA4"/>
                </a:solidFill>
                <a:latin typeface="Montserrat"/>
              </a:defRPr>
            </a:pPr>
            <a:r>
              <a:t>ID sample-executive-presentation · versão 1.0.0 · Completo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76000" y="576000"/>
            <a:ext cx="9540000" cy="576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00">
                <a:solidFill>
                  <a:srgbClr val="4C73D1"/>
                </a:solidFill>
                <a:latin typeface="Montserrat"/>
              </a:rPr>
              <a:t>APRESENTAÇÃO EXECUTIVA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