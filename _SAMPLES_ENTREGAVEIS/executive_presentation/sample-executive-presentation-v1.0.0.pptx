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76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20040"/>
            <a:ext cx="1554480" cy="58276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199" y="457199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193C8E"/>
                </a:solidFill>
                <a:latin typeface="Montserrat"/>
              </a:rPr>
              <a:t>EXEMPLO FICTÍCIO — Apresentação executiva da rodada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19"/>
            <a:ext cx="11064240" cy="4892040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latin typeface="Roboto"/>
              </a:defRPr>
            </a:pPr>
            <a:r>
              <a:t>Amostra de validação visual e estrutural. Dados, pessoas, votos e resultados são fictícios.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160"/>
            <a:ext cx="11064240" cy="30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86EA4"/>
                </a:solidFill>
                <a:latin typeface="Roboto"/>
              </a:defRPr>
            </a:pPr>
            <a:r>
              <a:t>ID sample-executive-presentation · versão 1.0.0 · Completo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20040"/>
            <a:ext cx="1554480" cy="58276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199" y="457199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193C8E"/>
                </a:solidFill>
                <a:latin typeface="Montserrat"/>
              </a:rPr>
              <a:t>A jornada fictícia delimita o problema e a hipótese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19"/>
            <a:ext cx="11064240" cy="4892040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latin typeface="Roboto"/>
              </a:defRPr>
            </a:pPr>
            <a:r>
              <a:t>Exemplo fictício de jornada de solicitações de dados. Hipótese, usuários e escopo são demonstrativos. [FIC-01]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160"/>
            <a:ext cx="11064240" cy="30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86EA4"/>
                </a:solidFill>
                <a:latin typeface="Roboto"/>
              </a:defRPr>
            </a:pPr>
            <a:r>
              <a:t>ID sample-executive-presentation · versão 1.0.0 · Completo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20040"/>
            <a:ext cx="1554480" cy="58276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199" y="457199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193C8E"/>
                </a:solidFill>
                <a:latin typeface="Montserrat"/>
              </a:rPr>
              <a:t>O método combina compreensão da tarefa e piloto controlado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19"/>
            <a:ext cx="11064240" cy="4892040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latin typeface="Roboto"/>
              </a:defRPr>
            </a:pPr>
            <a:r>
              <a:t>Teste moderado de tarefa para compreensão, seguido de piloto controlado para observar completude e tempo. Nenhuma coleta ocorreu neste exemplo. [FIC-01]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160"/>
            <a:ext cx="11064240" cy="30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86EA4"/>
                </a:solidFill>
                <a:latin typeface="Roboto"/>
              </a:defRPr>
            </a:pPr>
            <a:r>
              <a:t>ID sample-executive-presentation · versão 1.0.0 · Completo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20040"/>
            <a:ext cx="1554480" cy="58276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199" y="457199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193C8E"/>
                </a:solidFill>
                <a:latin typeface="Montserrat"/>
              </a:rPr>
              <a:t>A orientação reduziu dúvidas, mas o efeito real não foi medido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19"/>
            <a:ext cx="11064240" cy="4892040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latin typeface="Roboto"/>
              </a:defRPr>
            </a:pPr>
            <a:r>
              <a:t>Achado ilustrativo: a orientação reduziu dúvidas no protótipo, mas não existe evidência real de efeito operacional. [FIC-01]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160"/>
            <a:ext cx="11064240" cy="30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86EA4"/>
                </a:solidFill>
                <a:latin typeface="Roboto"/>
              </a:defRPr>
            </a:pPr>
            <a:r>
              <a:t>ID sample-executive-presentation · versão 1.0.0 · Completo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20040"/>
            <a:ext cx="1554480" cy="58276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199" y="457199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193C8E"/>
                </a:solidFill>
                <a:latin typeface="Montserrat"/>
              </a:rPr>
              <a:t>Investigar causas e volumes antes de comprometer a construção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19"/>
            <a:ext cx="11064240" cy="4892040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latin typeface="Roboto"/>
              </a:defRPr>
            </a:pPr>
            <a:r>
              <a:t>Investigar volumes e causas antes de comprometer construção. Nenhuma decisão real foi tomada neste exemplo. [FIC-01]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160"/>
            <a:ext cx="11064240" cy="30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86EA4"/>
                </a:solidFill>
                <a:latin typeface="Roboto"/>
              </a:defRPr>
            </a:pPr>
            <a:r>
              <a:t>ID sample-executive-presentation · versão 1.0.0 · Completo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20040"/>
            <a:ext cx="1554480" cy="58276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199" y="457199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193C8E"/>
                </a:solidFill>
                <a:latin typeface="Montserrat"/>
              </a:rPr>
              <a:t>Uma rodada real deve preceder a decisão de escala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19"/>
            <a:ext cx="11064240" cy="4892040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latin typeface="Roboto"/>
              </a:defRPr>
            </a:pPr>
            <a:r>
              <a:t>Consolidar linha de base, fechar Test Cards e executar uma rodada real antes de decidir escala. [FIC-01]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160"/>
            <a:ext cx="11064240" cy="30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86EA4"/>
                </a:solidFill>
                <a:latin typeface="Roboto"/>
              </a:defRPr>
            </a:pPr>
            <a:r>
              <a:t>ID sample-executive-presentation · versão 1.0.0 · Completo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20040"/>
            <a:ext cx="1554480" cy="58276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199" y="457199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193C8E"/>
                </a:solidFill>
                <a:latin typeface="Montserrat"/>
              </a:rPr>
              <a:t>Fontes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19"/>
            <a:ext cx="11064240" cy="4892040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latin typeface="Roboto"/>
              </a:defRPr>
            </a:pPr>
            <a:r>
              <a:t>FIC-01 — ata-simulada-5c, exemplo fictício, sem coleta real</a:t>
            </a:r>
          </a:p>
          <a:p>
            <a:pPr>
              <a:defRPr sz="1700">
                <a:latin typeface="Roboto"/>
              </a:defRPr>
            </a:pPr>
            <a:r>
              <a:t>FIC-02 — planilha-simulada, exemplo fictício, sem dados reais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160"/>
            <a:ext cx="11064240" cy="30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86EA4"/>
                </a:solidFill>
                <a:latin typeface="Roboto"/>
              </a:defRPr>
            </a:pPr>
            <a:r>
              <a:t>ID sample-executive-presentation · versão 1.0.0 · Completo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